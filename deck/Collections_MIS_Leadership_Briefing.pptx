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2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3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4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5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Billing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90A4AE"/>
              </a:solidFill>
              <a:effectLst/>
            </c:spPr>
          </c:dPt>
          <c:dPt>
            <c:idx val="1"/>
            <c:bubble3D val="0"/>
            <c:spPr>
              <a:solidFill>
                <a:srgbClr val="C62828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Collected</c:v>
                </c:pt>
                <c:pt idx="1">
                  <c:v>Not yet collected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58.1</c:v>
                </c:pt>
                <c:pt idx="1">
                  <c:v>41.9</c:v>
                </c:pt>
              </c:numCache>
            </c:numRef>
          </c:val>
        </c:ser>
        <c:firstSliceAng val="0"/>
        <c:holeSize val="6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CFD8DC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Not due</c:v>
                </c:pt>
              </c:strCache>
            </c:strRef>
          </c:tx>
          <c:spPr>
            <a:solidFill>
              <a:srgbClr val="D9D9D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Tax</c:v>
                  </c:pt>
                  <c:pt idx="1">
                    <c:v>Risk Advisory</c:v>
                  </c:pt>
                  <c:pt idx="2">
                    <c:v>Audit</c:v>
                  </c:pt>
                  <c:pt idx="3">
                    <c:v>Consulting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63.82</c:v>
                </c:pt>
                <c:pt idx="1">
                  <c:v>36.76</c:v>
                </c:pt>
                <c:pt idx="2">
                  <c:v>51.99</c:v>
                </c:pt>
                <c:pt idx="3">
                  <c:v>114.65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0–30 days</c:v>
                </c:pt>
              </c:strCache>
            </c:strRef>
          </c:tx>
          <c:spPr>
            <a:solidFill>
              <a:srgbClr val="FFCC8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Tax</c:v>
                  </c:pt>
                  <c:pt idx="1">
                    <c:v>Risk Advisory</c:v>
                  </c:pt>
                  <c:pt idx="2">
                    <c:v>Audit</c:v>
                  </c:pt>
                  <c:pt idx="3">
                    <c:v>Consulting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9.6</c:v>
                </c:pt>
                <c:pt idx="1">
                  <c:v>33.96</c:v>
                </c:pt>
                <c:pt idx="2">
                  <c:v>39.37</c:v>
                </c:pt>
                <c:pt idx="3">
                  <c:v>69.68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31–60 days</c:v>
                </c:pt>
              </c:strCache>
            </c:strRef>
          </c:tx>
          <c:spPr>
            <a:solidFill>
              <a:srgbClr val="FB8C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Tax</c:v>
                  </c:pt>
                  <c:pt idx="1">
                    <c:v>Risk Advisory</c:v>
                  </c:pt>
                  <c:pt idx="2">
                    <c:v>Audit</c:v>
                  </c:pt>
                  <c:pt idx="3">
                    <c:v>Consulting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19.67</c:v>
                </c:pt>
                <c:pt idx="1">
                  <c:v>11.57</c:v>
                </c:pt>
                <c:pt idx="2">
                  <c:v>31.09</c:v>
                </c:pt>
                <c:pt idx="3">
                  <c:v>46.47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61–90 days</c:v>
                </c:pt>
              </c:strCache>
            </c:strRef>
          </c:tx>
          <c:spPr>
            <a:solidFill>
              <a:srgbClr val="C6282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Tax</c:v>
                  </c:pt>
                  <c:pt idx="1">
                    <c:v>Risk Advisory</c:v>
                  </c:pt>
                  <c:pt idx="2">
                    <c:v>Audit</c:v>
                  </c:pt>
                  <c:pt idx="3">
                    <c:v>Consulting</c:v>
                  </c:pt>
                </c:lvl>
              </c:multiLvlStrCache>
            </c:multiLvl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13.49</c:v>
                </c:pt>
                <c:pt idx="1">
                  <c:v>7.81</c:v>
                </c:pt>
                <c:pt idx="2">
                  <c:v>3.97</c:v>
                </c:pt>
                <c:pt idx="3">
                  <c:v>19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90+ days</c:v>
                </c:pt>
              </c:strCache>
            </c:strRef>
          </c:tx>
          <c:spPr>
            <a:solidFill>
              <a:srgbClr val="7F00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Tax</c:v>
                  </c:pt>
                  <c:pt idx="1">
                    <c:v>Risk Advisory</c:v>
                  </c:pt>
                  <c:pt idx="2">
                    <c:v>Audit</c:v>
                  </c:pt>
                  <c:pt idx="3">
                    <c:v>Consulting</c:v>
                  </c:pt>
                </c:lvl>
              </c:multiLvlStrCache>
            </c:multiLvlStrRef>
          </c:cat>
          <c:val>
            <c:numRef>
              <c:f>Sheet1!$F$2:$F$5</c:f>
              <c:numCache>
                <c:formatCode>General</c:formatCode>
                <c:ptCount val="4"/>
                <c:pt idx="0">
                  <c:v>5.23</c:v>
                </c:pt>
                <c:pt idx="1">
                  <c:v>2.27</c:v>
                </c:pt>
                <c:pt idx="2">
                  <c:v>4.66</c:v>
                </c:pt>
                <c:pt idx="3">
                  <c:v>9.48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6323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75"/>
          <c:min val="0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6B7280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6B7280"/>
                    </a:solidFill>
                    <a:latin typeface="Arial"/>
                  </a:rPr>
                  <a:t>Outstanding (₹ lakh)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263238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263238"/>
                </a:solidFill>
                <a:latin typeface="Calibri"/>
              </a:rPr>
              <a:t>Days to collect (DSO)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DSO (days)</c:v>
                </c:pt>
              </c:strCache>
            </c:strRef>
          </c:tx>
          <c:spPr>
            <a:solidFill>
              <a:srgbClr val="9E9E9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6323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E9E9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6282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E9E9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E9E9E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Audit</c:v>
                  </c:pt>
                  <c:pt idx="1">
                    <c:v>Consulting</c:v>
                  </c:pt>
                  <c:pt idx="2">
                    <c:v>Risk Advisory</c:v>
                  </c:pt>
                  <c:pt idx="3">
                    <c:v>Tax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83</c:v>
                </c:pt>
                <c:pt idx="1">
                  <c:v>130</c:v>
                </c:pt>
                <c:pt idx="2">
                  <c:v>58</c:v>
                </c:pt>
                <c:pt idx="3">
                  <c:v>40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26323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6323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5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60+ days overdue (₹ lakh)</c:v>
                </c:pt>
              </c:strCache>
            </c:strRef>
          </c:tx>
          <c:spPr>
            <a:solidFill>
              <a:srgbClr val="9E9E9E"/>
            </a:solidFill>
            <a:effectLst/>
          </c:spPr>
          <c:invertIfNegative val="0"/>
          <c:dLbls>
            <c:numFmt formatCode="&quot;₹&quot;0.0&quot; L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6323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E9E9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E9E9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E9E9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E9E9E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62828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Nova Motors Ltd</c:v>
                  </c:pt>
                  <c:pt idx="1">
                    <c:v>Fulcrum Motors Ltd</c:v>
                  </c:pt>
                  <c:pt idx="2">
                    <c:v>Everest Infotech Pvt Ltd</c:v>
                  </c:pt>
                  <c:pt idx="3">
                    <c:v>Saffron Finance Ltd</c:v>
                  </c:pt>
                  <c:pt idx="4">
                    <c:v>Granite Energy Ltd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5.23</c:v>
                </c:pt>
                <c:pt idx="1">
                  <c:v>6.43</c:v>
                </c:pt>
                <c:pt idx="2">
                  <c:v>8.63</c:v>
                </c:pt>
                <c:pt idx="3">
                  <c:v>9.48</c:v>
                </c:pt>
                <c:pt idx="4">
                  <c:v>12.63</c:v>
                </c:pt>
              </c:numCache>
            </c:numRef>
          </c:val>
        </c:ser>
        <c:dLbls>
          <c:numFmt formatCode="&quot;₹&quot;0.0&quot; L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26323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6323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5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CFD8DC"/>
                </a:solidFill>
                <a:latin typeface="Calibri"/>
              </a:defRPr>
            </a:pPr>
            <a:r>
              <a:rPr sz="1100" b="0" i="0" u="none" strike="noStrike">
                <a:solidFill>
                  <a:srgbClr val="CFD8DC"/>
                </a:solidFill>
                <a:latin typeface="Calibri"/>
              </a:rPr>
              <a:t>Issues by severity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Issues</c:v>
                </c:pt>
              </c:strCache>
            </c:strRef>
          </c:tx>
          <c:spPr>
            <a:solidFill>
              <a:srgbClr val="E5737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5737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FB74D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0A4AE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High</c:v>
                  </c:pt>
                  <c:pt idx="1">
                    <c:v>Medium</c:v>
                  </c:pt>
                  <c:pt idx="2">
                    <c:v>Low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</c:v>
                </c:pt>
                <c:pt idx="1">
                  <c:v>3</c:v>
                </c:pt>
                <c:pt idx="2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CFD8D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.5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Headline: of ₹13.4 crore billed in Apr–Sep 2026, only 58% has been collected. Consulting is the main reason: its DSO is 130 days versus 40 for Tax.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Darker colours = older debt. Consulting has the longest bar and the largest 61–90 and 90+ segments.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Billing ÷ Cost = billing over the 6 months divided by 6 months of people cost. Efficiency = collected ÷ billed. DSO = outstanding ÷ billed × 183 days.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 5 = ₹42.4 lakh out of ₹65.9 lakh overdue 61+ days (61–90 plus 90+ buckets). Three of the five are Consulting clients.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issues need Finance or the client to confirm the right value; the analyst reports them rather than guessing. Handled issues are excluded or cleaned by formulas in the MIS.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63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Consulting is tying up our cash: DSO of 130 days vs 40 for Tax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3840480" cy="868680"/>
          </a:xfrm>
          <a:prstGeom prst="roundRect">
            <a:avLst>
              <a:gd name="adj" fmla="val 8421"/>
            </a:avLst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32588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₹5.7 cr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2651760" y="13258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outstanding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3840480" cy="868680"/>
          </a:xfrm>
          <a:prstGeom prst="roundRect">
            <a:avLst>
              <a:gd name="adj" fmla="val 8421"/>
            </a:avLst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237744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F9A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78 days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2651760" y="237744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DSO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337560"/>
            <a:ext cx="3840480" cy="868680"/>
          </a:xfrm>
          <a:prstGeom prst="roundRect">
            <a:avLst>
              <a:gd name="adj" fmla="val 8421"/>
            </a:avLst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342900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58%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2651760" y="342900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 efficiency</a:t>
            </a:r>
            <a:endParaRPr lang="en-US" sz="13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4754880" y="1097280"/>
          <a:ext cx="393192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Text 10"/>
          <p:cNvSpPr txBox="1"/>
          <p:nvPr/>
        </p:nvSpPr>
        <p:spPr>
          <a:xfrm>
            <a:off x="457200" y="4343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₹5.7 crore billed but not yet received, as of 30 Sep 2026.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Revenue_Billing_Collections_MIS (synthetic data), as of 30 Sep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63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Consulting holds the largest share of overdue money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05840"/>
          <a:ext cx="822960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457200" y="3977640"/>
            <a:ext cx="8229600" cy="640080"/>
          </a:xfrm>
          <a:prstGeom prst="roundRect">
            <a:avLst>
              <a:gd name="adj" fmla="val 8571"/>
            </a:avLst>
          </a:prstGeom>
          <a:solidFill>
            <a:srgbClr val="FDECEA"/>
          </a:solidFill>
          <a:ln w="12700">
            <a:solidFill>
              <a:srgbClr val="FDECEA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40080" y="39776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Consulting has ₹9.5 lakh overdue 90+ days, </a:t>
            </a:r>
            <a:pPr indent="0" marL="0">
              <a:buNone/>
            </a:pPr>
            <a:r>
              <a:rPr lang="en-US" sz="15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of any team, and ₹2.6 crore outstanding in total.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Revenue_Billing_Collections_MIS (synthetic data), as of 30 Sep 2026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63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Consulting bills well per person but collects the slowest</a:t>
            </a:r>
            <a:endParaRPr lang="en-US" sz="2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42062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005840"/>
                <a:gridCol w="914400"/>
                <a:gridCol w="100584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 line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2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Billing ÷ Cost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2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Efficiency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2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DSO (days)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23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1.24x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Consulting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1.27x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Advisory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1.20x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1.66x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Chart 0" descr=""/>
          <p:cNvGraphicFramePr/>
          <p:nvPr/>
        </p:nvGraphicFramePr>
        <p:xfrm>
          <a:off x="4937760" y="1005840"/>
          <a:ext cx="374904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1"/>
          <p:cNvSpPr/>
          <p:nvPr/>
        </p:nvSpPr>
        <p:spPr>
          <a:xfrm>
            <a:off x="457200" y="3977640"/>
            <a:ext cx="8229600" cy="640080"/>
          </a:xfrm>
          <a:prstGeom prst="roundRect">
            <a:avLst>
              <a:gd name="adj" fmla="val 8571"/>
            </a:avLst>
          </a:prstGeom>
          <a:solidFill>
            <a:srgbClr val="FDECEA"/>
          </a:solidFill>
          <a:ln w="12700">
            <a:solidFill>
              <a:srgbClr val="FDECEA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640080" y="39776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Earning isn’t the problem; collecting is. </a:t>
            </a:r>
            <a:pPr indent="0" marL="0">
              <a:buNone/>
            </a:pPr>
            <a:r>
              <a:rPr lang="en-US" sz="14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Consulting earns 1.27x its people cost but converts only ~29% of billing into cash.</a:t>
            </a:r>
            <a:endParaRPr lang="en-US" sz="1400" dirty="0"/>
          </a:p>
        </p:txBody>
      </p:sp>
      <p:sp>
        <p:nvSpPr>
          <p:cNvPr id="7" name="Text 3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Revenue_Billing_Collections_MIS (synthetic data), as of 30 Sep 2026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63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clients account for most of the 60+ day overdue amount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05840"/>
          <a:ext cx="539496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6126480" y="1188720"/>
            <a:ext cx="2560320" cy="1554480"/>
          </a:xfrm>
          <a:prstGeom prst="roundRect">
            <a:avLst>
              <a:gd name="adj" fmla="val 4706"/>
            </a:avLst>
          </a:prstGeom>
          <a:solidFill>
            <a:srgbClr val="FDECEA"/>
          </a:solidFill>
          <a:ln w="12700">
            <a:solidFill>
              <a:srgbClr val="FDECEA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309360" y="128016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628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₹12.6 L</a:t>
            </a:r>
            <a:endParaRPr 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6309360" y="19659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Granite Energy is #1. Start here.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126480" y="2926080"/>
            <a:ext cx="2560320" cy="1554480"/>
          </a:xfrm>
          <a:prstGeom prst="roundRect">
            <a:avLst>
              <a:gd name="adj" fmla="val 4706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309360" y="301752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63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~64%</a:t>
            </a:r>
            <a:endParaRPr lang="en-US" sz="3200" dirty="0"/>
          </a:p>
        </p:txBody>
      </p:sp>
      <p:sp>
        <p:nvSpPr>
          <p:cNvPr id="9" name="Text 6"/>
          <p:cNvSpPr txBox="1"/>
          <p:nvPr/>
        </p:nvSpPr>
        <p:spPr>
          <a:xfrm>
            <a:off x="6309360" y="370332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60+ day overdue money sits with these five clients.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Revenue_Billing_Collections_MIS (synthetic data), as of 30 Sep 2026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63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data issues found; 8 remain open before next month’s MIS</a:t>
            </a:r>
            <a:endParaRPr lang="en-US" sz="2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automated checks run · 3 passed · 9 failed · 10 issues logged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371600"/>
          <a:ext cx="2103120" cy="1920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2560320" y="1417320"/>
            <a:ext cx="2377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high-severity issues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₹11.4 L received against an invoice with no amount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₹4.5 L invoice linked to no engagement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₹3.0 L receipt with no matching invoice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212080" y="1371600"/>
            <a:ext cx="3474720" cy="3246120"/>
          </a:xfrm>
          <a:prstGeom prst="roundRect">
            <a:avLst>
              <a:gd name="adj" fmla="val 2254"/>
            </a:avLst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40680" y="15087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Recommended actions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440680" y="1993392"/>
            <a:ext cx="347472" cy="347472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40680" y="19933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5897880" y="196596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Consulting partners review the top 5 overdue accounts this week.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440680" y="2862072"/>
            <a:ext cx="347472" cy="347472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440680" y="28620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5897880" y="283464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resolves the open issues: ₹3 L unmatched receipt, ₹4.5 L unmapped invoice, ₹2.5 L overpayment.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440680" y="3730752"/>
            <a:ext cx="347472" cy="347472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440680" y="37307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5897880" y="370332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MIS check monthly and track DSO in Monthly_Log.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352044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issues (duplicate employee, inconsistent team names) are already handled inside the MIS.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Revenue_Billing_Collections_MIS (synthetic data), as of 30 Sep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Revenue, Billing &amp; Collections MIS – Leadership Briefing</dc:title>
  <dc:subject>PptxGenJS Presentation</dc:subject>
  <dc:creator>PptxGenJS</dc:creator>
  <cp:lastModifiedBy>PptxGenJS</cp:lastModifiedBy>
  <cp:revision>1</cp:revision>
  <dcterms:created xsi:type="dcterms:W3CDTF">2026-09-29T20:23:12Z</dcterms:created>
  <dcterms:modified xsi:type="dcterms:W3CDTF">2026-09-29T20:23:12Z</dcterms:modified>
</cp:coreProperties>
</file>